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51" autoAdjust="0"/>
  </p:normalViewPr>
  <p:slideViewPr>
    <p:cSldViewPr snapToGrid="0" showGuides="1">
      <p:cViewPr varScale="1">
        <p:scale>
          <a:sx n="78" d="100"/>
          <a:sy n="78" d="100"/>
        </p:scale>
        <p:origin x="583" y="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DIE VAN MELLO" userId="3845176e-b635-47a8-8b42-0ba429777eb6" providerId="ADAL" clId="{9B1FA534-5294-434C-B801-845C50B47820}"/>
    <pc:docChg chg="custSel modSld">
      <pc:chgData name="MADDIE VAN MELLO" userId="3845176e-b635-47a8-8b42-0ba429777eb6" providerId="ADAL" clId="{9B1FA534-5294-434C-B801-845C50B47820}" dt="2026-09-22T01:34:26.711" v="670" actId="20577"/>
      <pc:docMkLst>
        <pc:docMk/>
      </pc:docMkLst>
      <pc:sldChg chg="modSp mod modNotesTx">
        <pc:chgData name="MADDIE VAN MELLO" userId="3845176e-b635-47a8-8b42-0ba429777eb6" providerId="ADAL" clId="{9B1FA534-5294-434C-B801-845C50B47820}" dt="2026-09-21T09:24:25.067" v="667" actId="20577"/>
        <pc:sldMkLst>
          <pc:docMk/>
          <pc:sldMk cId="85436412" sldId="256"/>
        </pc:sldMkLst>
        <pc:spChg chg="mod">
          <ac:chgData name="MADDIE VAN MELLO" userId="3845176e-b635-47a8-8b42-0ba429777eb6" providerId="ADAL" clId="{9B1FA534-5294-434C-B801-845C50B47820}" dt="2026-09-21T09:24:25.067" v="667" actId="20577"/>
          <ac:spMkLst>
            <pc:docMk/>
            <pc:sldMk cId="85436412" sldId="256"/>
            <ac:spMk id="4" creationId="{3EAA0E1C-4F23-B092-DCA7-7D6EC42B70ED}"/>
          </ac:spMkLst>
        </pc:spChg>
      </pc:sldChg>
      <pc:sldChg chg="modNotesTx">
        <pc:chgData name="MADDIE VAN MELLO" userId="3845176e-b635-47a8-8b42-0ba429777eb6" providerId="ADAL" clId="{9B1FA534-5294-434C-B801-845C50B47820}" dt="2026-09-21T09:14:19.605" v="136" actId="113"/>
        <pc:sldMkLst>
          <pc:docMk/>
          <pc:sldMk cId="907031261" sldId="257"/>
        </pc:sldMkLst>
      </pc:sldChg>
      <pc:sldChg chg="modNotesTx">
        <pc:chgData name="MADDIE VAN MELLO" userId="3845176e-b635-47a8-8b42-0ba429777eb6" providerId="ADAL" clId="{9B1FA534-5294-434C-B801-845C50B47820}" dt="2026-09-22T01:32:57.809" v="669" actId="20577"/>
        <pc:sldMkLst>
          <pc:docMk/>
          <pc:sldMk cId="383577287" sldId="258"/>
        </pc:sldMkLst>
      </pc:sldChg>
      <pc:sldChg chg="modNotesTx">
        <pc:chgData name="MADDIE VAN MELLO" userId="3845176e-b635-47a8-8b42-0ba429777eb6" providerId="ADAL" clId="{9B1FA534-5294-434C-B801-845C50B47820}" dt="2026-09-21T09:16:41.840" v="197" actId="20577"/>
        <pc:sldMkLst>
          <pc:docMk/>
          <pc:sldMk cId="486359625" sldId="259"/>
        </pc:sldMkLst>
      </pc:sldChg>
      <pc:sldChg chg="modNotesTx">
        <pc:chgData name="MADDIE VAN MELLO" userId="3845176e-b635-47a8-8b42-0ba429777eb6" providerId="ADAL" clId="{9B1FA534-5294-434C-B801-845C50B47820}" dt="2026-09-21T09:19:21.274" v="282" actId="20577"/>
        <pc:sldMkLst>
          <pc:docMk/>
          <pc:sldMk cId="36515333" sldId="260"/>
        </pc:sldMkLst>
      </pc:sldChg>
      <pc:sldChg chg="modNotesTx">
        <pc:chgData name="MADDIE VAN MELLO" userId="3845176e-b635-47a8-8b42-0ba429777eb6" providerId="ADAL" clId="{9B1FA534-5294-434C-B801-845C50B47820}" dt="2026-09-21T09:20:17.696" v="377" actId="20577"/>
        <pc:sldMkLst>
          <pc:docMk/>
          <pc:sldMk cId="4104455468" sldId="261"/>
        </pc:sldMkLst>
      </pc:sldChg>
      <pc:sldChg chg="modNotesTx">
        <pc:chgData name="MADDIE VAN MELLO" userId="3845176e-b635-47a8-8b42-0ba429777eb6" providerId="ADAL" clId="{9B1FA534-5294-434C-B801-845C50B47820}" dt="2026-09-21T09:18:16.142" v="249" actId="20577"/>
        <pc:sldMkLst>
          <pc:docMk/>
          <pc:sldMk cId="2612403579" sldId="262"/>
        </pc:sldMkLst>
      </pc:sldChg>
      <pc:sldChg chg="modNotesTx">
        <pc:chgData name="MADDIE VAN MELLO" userId="3845176e-b635-47a8-8b42-0ba429777eb6" providerId="ADAL" clId="{9B1FA534-5294-434C-B801-845C50B47820}" dt="2026-09-21T09:18:52.530" v="274" actId="20577"/>
        <pc:sldMkLst>
          <pc:docMk/>
          <pc:sldMk cId="635685024" sldId="263"/>
        </pc:sldMkLst>
      </pc:sldChg>
      <pc:sldChg chg="modNotesTx">
        <pc:chgData name="MADDIE VAN MELLO" userId="3845176e-b635-47a8-8b42-0ba429777eb6" providerId="ADAL" clId="{9B1FA534-5294-434C-B801-845C50B47820}" dt="2026-09-21T09:21:14.387" v="498" actId="20577"/>
        <pc:sldMkLst>
          <pc:docMk/>
          <pc:sldMk cId="1849088932" sldId="264"/>
        </pc:sldMkLst>
      </pc:sldChg>
      <pc:sldChg chg="modNotesTx">
        <pc:chgData name="MADDIE VAN MELLO" userId="3845176e-b635-47a8-8b42-0ba429777eb6" providerId="ADAL" clId="{9B1FA534-5294-434C-B801-845C50B47820}" dt="2026-09-22T01:34:26.711" v="670" actId="20577"/>
        <pc:sldMkLst>
          <pc:docMk/>
          <pc:sldMk cId="3015001044" sldId="265"/>
        </pc:sldMkLst>
      </pc:sldChg>
      <pc:sldChg chg="modNotesTx">
        <pc:chgData name="MADDIE VAN MELLO" userId="3845176e-b635-47a8-8b42-0ba429777eb6" providerId="ADAL" clId="{9B1FA534-5294-434C-B801-845C50B47820}" dt="2026-09-21T09:22:28.990" v="529" actId="20577"/>
        <pc:sldMkLst>
          <pc:docMk/>
          <pc:sldMk cId="3309760741" sldId="266"/>
        </pc:sldMkLst>
      </pc:sldChg>
      <pc:sldChg chg="modNotesTx">
        <pc:chgData name="MADDIE VAN MELLO" userId="3845176e-b635-47a8-8b42-0ba429777eb6" providerId="ADAL" clId="{9B1FA534-5294-434C-B801-845C50B47820}" dt="2026-09-21T09:23:30.526" v="645" actId="20577"/>
        <pc:sldMkLst>
          <pc:docMk/>
          <pc:sldMk cId="208829946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0E0DC-72B0-4817-907A-E03084EEE6C8}" type="datetimeFigureOut">
              <a:rPr lang="en-AU" smtClean="0"/>
              <a:t>21/09/2026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67134-B41F-427F-B981-FEDFDC0399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376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video, I will introduce and explain the concept of iterators in C#. Iterators allow you to produce values one at a time using `yield return`, improving code cleanliness and efficiency.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9518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iterator is a method that pauses and resumes as it generates values. It works with `</a:t>
            </a:r>
            <a:r>
              <a:rPr lang="en-US" dirty="0" err="1"/>
              <a:t>IEnumerable</a:t>
            </a:r>
            <a:r>
              <a:rPr lang="en-US" dirty="0"/>
              <a:t>` and `</a:t>
            </a:r>
            <a:r>
              <a:rPr lang="en-US" dirty="0" err="1"/>
              <a:t>IEnumerator</a:t>
            </a:r>
            <a:r>
              <a:rPr lang="en-US" dirty="0"/>
              <a:t>`, and powers the `foreach` loop.</a:t>
            </a:r>
          </a:p>
          <a:p>
            <a:r>
              <a:rPr lang="en-AU" b="1" dirty="0"/>
              <a:t>LINQ,</a:t>
            </a:r>
            <a:r>
              <a:rPr lang="en-AU" dirty="0"/>
              <a:t> or Language Integrated Query, is a C# feature that lets you </a:t>
            </a:r>
            <a:r>
              <a:rPr lang="en-AU" b="1" dirty="0"/>
              <a:t>query and transform data using C# syntax</a:t>
            </a:r>
            <a:r>
              <a:rPr lang="en-AU" dirty="0"/>
              <a:t>, instead of writing SQL strings, XML queries, or custom loops. It gives you a unified, strongly‑typed, readable way to filter, sort, group, and project data from </a:t>
            </a:r>
            <a:r>
              <a:rPr lang="en-AU" b="1" dirty="0"/>
              <a:t>any data source</a:t>
            </a:r>
            <a:r>
              <a:rPr lang="en-AU" b="0" dirty="0"/>
              <a:t>, be they</a:t>
            </a:r>
            <a:r>
              <a:rPr lang="en-AU" dirty="0"/>
              <a:t> arrays, lists, XML, databases, and more.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778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240F-606F-F23C-B071-CE63514A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A2262-BB59-114D-41F1-17C239885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09ACB-D5A0-E528-98EB-38A5ACA95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Iterators are perfect when you don’t want to build a full collection, when you need lazy evaluation or deferred execution, or when you want custom traversal logic.</a:t>
            </a:r>
          </a:p>
          <a:p>
            <a:r>
              <a:rPr lang="en-AU" b="1" dirty="0">
                <a:effectLst/>
              </a:rPr>
              <a:t>Lazy evaluation</a:t>
            </a:r>
            <a:r>
              <a:rPr lang="en-AU" dirty="0">
                <a:effectLst/>
              </a:rPr>
              <a:t> in the context of </a:t>
            </a:r>
            <a:r>
              <a:rPr lang="en-AU" b="1" dirty="0">
                <a:effectLst/>
              </a:rPr>
              <a:t>C# iterators</a:t>
            </a:r>
            <a:r>
              <a:rPr lang="en-AU" dirty="0">
                <a:effectLst/>
              </a:rPr>
              <a:t> means </a:t>
            </a:r>
            <a:r>
              <a:rPr lang="en-AU" b="1" dirty="0">
                <a:effectLst/>
              </a:rPr>
              <a:t>Values are not computed until the moment you need them. </a:t>
            </a:r>
            <a:r>
              <a:rPr lang="en-AU" dirty="0">
                <a:effectLst/>
              </a:rPr>
              <a:t>That’s the whole magic behind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yield return</a:t>
            </a:r>
            <a:r>
              <a:rPr lang="en-AU" dirty="0">
                <a:effectLst/>
              </a:rPr>
              <a:t>.</a:t>
            </a:r>
          </a:p>
          <a:p>
            <a:r>
              <a:rPr lang="en-AU" b="1" dirty="0">
                <a:effectLst/>
              </a:rPr>
              <a:t>Custom traversal logic</a:t>
            </a:r>
            <a:r>
              <a:rPr lang="en-AU" dirty="0">
                <a:effectLst/>
              </a:rPr>
              <a:t> simply means </a:t>
            </a:r>
            <a:r>
              <a:rPr lang="en-AU" b="1" dirty="0">
                <a:effectLst/>
              </a:rPr>
              <a:t>You decide </a:t>
            </a:r>
            <a:r>
              <a:rPr lang="en-AU" b="1" i="1" dirty="0">
                <a:effectLst/>
              </a:rPr>
              <a:t>how</a:t>
            </a:r>
            <a:r>
              <a:rPr lang="en-AU" b="1" dirty="0">
                <a:effectLst/>
              </a:rPr>
              <a:t> something should be iterated, instead of relying on the default way. </a:t>
            </a:r>
            <a:r>
              <a:rPr lang="en-AU" dirty="0">
                <a:effectLst/>
              </a:rPr>
              <a:t>It’s about defining your </a:t>
            </a:r>
            <a:r>
              <a:rPr lang="en-AU" b="1" dirty="0">
                <a:effectLst/>
              </a:rPr>
              <a:t>own rules</a:t>
            </a:r>
            <a:r>
              <a:rPr lang="en-AU" dirty="0">
                <a:effectLst/>
              </a:rPr>
              <a:t> for walking through a collection, object, tree, graph, file, or any data structure. Iterators make this incredibly easy.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3DDFC-5200-66BC-5651-320DEA118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5432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A4763-A006-AA62-EBFF-9B7B36C0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C6180-86ED-C4DF-96C3-C8FCEC282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4FF46-7901-502B-F9E4-F84CFE8FA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your code reaches `yield return`, the method pauses and the current state saved. When the next value is requested, execution resumes from where it left off.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C3081-8D79-E915-D792-C9AEF580D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441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C555-C3C4-C647-3CA4-ACD392AA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44ED9-CCF0-DECB-D826-5C07CE54A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22703-6910-4689-4568-E1E50E401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iterator walks through a range and yields only even numbers. It does not need to build a complete list as each number is produced only when needed.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A0C6C-D6E8-57AB-3A06-0F0675436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895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5697-4B75-816B-6907-BE9749E1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DFE83-EF85-7650-5CEA-425DD34B2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FCB76-B3E2-060B-38F2-76421AE79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second example, the implementation of `</a:t>
            </a:r>
            <a:r>
              <a:rPr lang="en-US" dirty="0" err="1"/>
              <a:t>IEnumerable</a:t>
            </a:r>
            <a:r>
              <a:rPr lang="en-US" dirty="0"/>
              <a:t>&lt;T&gt;` and use of `yield return` makes the custom class compatible with `foreach` loops.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5FA71-62A2-69C4-FE20-8CDEAEF2D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9228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8314-3D92-6E97-287D-74D8BD00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910CD-9916-3FE4-05A7-BD6E6EF16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862AA-129E-398C-9DF1-8260B4FF9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Iterators are methods. Enumerators are objects. The iterator produces the enumerator automatically and `foreach` consumes it.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4DD79-00CB-8194-4C4D-B5A8F72ED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4873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3721-0014-D9AA-3311-73D2ECB8E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617BB-88E5-1715-765D-F5496856E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146EA-97AB-FF48-856A-C7701913A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Asynchronous iterators extend the pattern to asynchronous streams. They use `</a:t>
            </a:r>
            <a:r>
              <a:rPr lang="en-US" dirty="0" err="1"/>
              <a:t>IAsyncEnumerable</a:t>
            </a:r>
            <a:r>
              <a:rPr lang="en-US" dirty="0"/>
              <a:t>&lt;T&gt;` and are consumed through the use of `await foreach`.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7DEB-5B7A-8D15-E2E4-4F801D190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1665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7EB7-C57B-D9F4-25C3-D554C1CF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C0C50-7262-4C90-E2A5-715C2FF7D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B831B-559A-6C82-A9A0-E46B6205C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last example is similar to what was required in Task 5.3D with a finite state machine. Each `yield return` represents a step in the game. The iterator becomes a simple state machine — pausing and resuming at each stage.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AA4E-AE46-B1E0-B44A-F0423CA8A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2632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ED88-D1EB-67F8-7BA4-FBD9A7F5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64E28-A331-9A5A-34D4-332EF829F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4A9B8-0EC9-E0AE-8AC2-C4C2A5BEC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Iterators simplify your logic while improving performance, and can be used when you want lazy evaluation, custom traversal, or cleaner code than manual </a:t>
            </a:r>
            <a:r>
              <a:rPr lang="en-US"/>
              <a:t>enumerators.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7EA81-98E3-6B60-759E-E638DB892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408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EF3B-3C49-021E-C2E0-3BF5FCF32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0C2FE-521F-7A34-9356-459D863CD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4B3AD-71A0-1F63-6CD4-65BB51D4D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Iterators are one of the most elegant and useful features in C#.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0E3EB-ADFF-866C-7457-9F4910CFE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409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31E5-F1A1-E5B9-8BCA-7BA0EF3B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06405-4A46-6AFF-6A8C-13B08F489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2F546-3CCB-D1FB-F4C8-9D8A29847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watching. Iterators are a powerful tool — simple to write, efficient to run, and perfect for real-world C# development. Feel free to contact me via Teams if you would like full access to the codes or if you have any questions.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4AA27-FDD5-9233-EE43-972565013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134-B41F-427F-B981-FEDFDC0399B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831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79AC-2104-2D3C-A8B7-9C912D07F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B6BAB-A2D3-EC2B-E560-889F08BF8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265AD-3B7C-A700-3520-FCA3AE19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D809B-4B3D-47FE-8D53-ED142EB6EBFD}" type="datetime1">
              <a:rPr lang="en-AU" smtClean="0"/>
              <a:t>21/09/2026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01502-5B5A-417F-2872-FBEDAA4B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32B32-1246-6211-5C99-13576760C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2657419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C455-EF55-1FF5-5CCC-BAD1CDE9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CAE4A-B9BC-28C1-7B76-5F1BF1CAE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D5354-A6A6-4290-8622-B1925CE0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8E16-DF40-4990-A9BF-173610A1745D}" type="datetime1">
              <a:rPr lang="en-AU" smtClean="0"/>
              <a:t>21/09/2026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0A1B7-5832-1696-D069-C465729B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5B811-177D-1BDD-E06A-3ED19F43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7555112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97388-548A-30AC-8864-154380CD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972B9-0723-688F-2B85-8B211947F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2F36E-FC41-42B7-725C-32DD39B9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7F8-4978-47FE-B2EE-2E5EE8F172EC}" type="datetime1">
              <a:rPr lang="en-AU" smtClean="0"/>
              <a:t>21/09/2026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FAD6D-36F0-D876-105E-CA7BFAF7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39C50-BFA8-C19D-322B-98387085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76345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0C9F7-DCB4-CD66-ACDE-50B187F4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A601F-EFFB-855E-1896-E872C3A47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9651F-FDF4-D7D7-401F-B23643533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0487C-18A8-2492-7488-834B862E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E1CB5-852F-43CC-9855-129D65BF5D6A}" type="datetime1">
              <a:rPr lang="en-AU" smtClean="0"/>
              <a:t>21/09/2026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4E189-6209-BDA1-2EDE-24085DF7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3580E-8212-7F0D-700B-8726FFD7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35660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8C40-592D-D637-FD62-E0543AF1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0C6E1-D41D-3309-1F71-4D4E5BBB9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9A909-C8BA-B7BC-E50E-A5AD00EDD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07007-C177-10D0-2D11-F638DFB5C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3D85C-AC81-82FF-2BD3-8FEC10869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370A7-1E14-0242-F36D-132F0DF1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5BD2-46BA-4AD4-8FA9-64C2958A87D1}" type="datetime1">
              <a:rPr lang="en-AU" smtClean="0"/>
              <a:t>21/09/2026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EEE789-5664-9ADC-9F8F-352381BB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57DF6-AD14-CE8D-0206-A75A9EC8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132114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BDDA-879B-0C59-AFCE-4848FC08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A7E2AE-E8F2-89DC-316E-914B8793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2AA78-6AC9-4FCB-AD3E-7D23B0E178FA}" type="datetime1">
              <a:rPr lang="en-AU" smtClean="0"/>
              <a:t>21/09/2026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12449-1CB4-D5FC-1202-AE710233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D0BB3-72C1-29A8-CF6A-892AB539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616983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F5E98-E968-4B77-1C7F-F0198AB5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CF1C-36FB-496C-84E8-C4DB84A35A71}" type="datetime1">
              <a:rPr lang="en-AU" smtClean="0"/>
              <a:t>21/09/2026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049AB-217F-30C2-6078-D3EDF302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2D4B8-1404-27BF-56E1-BAD13515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906652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7197-DCD1-74B9-7756-98DFEFDFA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EF0C9-0566-BB70-94D0-FF032E55F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A3ED8-D67E-2D41-72D4-EF21848C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2BE24-BDC9-7F69-2297-B5C4D15A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545A-409B-4E58-A162-8BBEC3B679F7}" type="datetime1">
              <a:rPr lang="en-AU" smtClean="0"/>
              <a:t>21/09/2026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7A44D-5625-4201-5072-DB6779A3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F4154-8E0B-4129-6DB2-C0B38764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741538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DFB1E-60BF-6D66-D43A-DAEDADAC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374ED-0ECE-BB9E-7C2D-7C94433BF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23EAB-07B1-CB96-6597-3C2949275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14730-8FA9-BD75-F82D-B2CE2E3F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823A-445F-4238-9BDF-7915AA0A3055}" type="datetime1">
              <a:rPr lang="en-AU" smtClean="0"/>
              <a:t>21/09/2026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48730-687C-5F20-A098-8D93142E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41486-44D2-C204-6CA4-A78BC63D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975929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E625-DD01-2819-35B7-B0A4F3CB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77D49-1063-1C26-2ECB-5DC67303E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8A771-E4CF-5992-E8EE-69F04F00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DD29E-3EB0-4685-899F-ACA4107F7870}" type="datetime1">
              <a:rPr lang="en-AU" smtClean="0"/>
              <a:t>21/09/2026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14114-C3F7-D0A4-CECB-14351F71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FBBA6-4507-188C-4910-66133591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2746553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B5097-B48E-5243-D255-020900E4C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92902-64C2-5121-178D-94F4CEFCA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E742E-1797-E7F0-521E-FC773DCC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F08-299C-46BB-B6C5-D1622B4F38A8}" type="datetime1">
              <a:rPr lang="en-AU" smtClean="0"/>
              <a:t>21/09/2026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F33A-58D1-9563-75E6-8C9E52C3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6113E-0C5F-C1C0-4758-450BE358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64623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48969-CAED-20D3-4921-856BC9DF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C84B5-0839-DE11-A835-4F5B87E3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E77E1-CA00-70DE-E7C6-E5A73AEDB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A2FA3-3650-4CC7-8C10-D2CC67BE21FB}" type="datetime1">
              <a:rPr lang="en-AU" smtClean="0"/>
              <a:t>21/09/2026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B291B-23A6-CA6C-EAFE-B1AC6993F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AU"/>
              <a:t>SIT232 - Madeleine Van Mello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96ED-1359-DAF9-B4AC-6822C9AE3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A0391-16D3-4361-B6C3-5B85631C3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28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-sharp/iterators-in-c-shar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dotnet/csharp/programming-guide/concepts/iterator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is-is/dotnet/csharp/iterator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programming-guide/concepts/iterato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programming-guide/concepts/iterator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programming-guide/concepts/iterator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is-is/dotnet/csharp/iterator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is-is/dotnet/csharp/iterator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82FC-CFFD-09A6-A197-AFB414124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7840" y="1122363"/>
            <a:ext cx="8619744" cy="1572069"/>
          </a:xfrm>
        </p:spPr>
        <p:txBody>
          <a:bodyPr>
            <a:normAutofit fontScale="90000"/>
          </a:bodyPr>
          <a:lstStyle/>
          <a:p>
            <a:r>
              <a:rPr lang="en-US" dirty="0"/>
              <a:t>Understanding Iterators </a:t>
            </a:r>
            <a:br>
              <a:rPr lang="en-US" dirty="0"/>
            </a:br>
            <a:r>
              <a:rPr lang="en-US" dirty="0"/>
              <a:t>in C#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98FDF-4EB5-5283-162F-3EF887769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7840" y="3447670"/>
            <a:ext cx="8619744" cy="673226"/>
          </a:xfrm>
        </p:spPr>
        <p:txBody>
          <a:bodyPr/>
          <a:lstStyle/>
          <a:p>
            <a:r>
              <a:rPr lang="en-US" dirty="0"/>
              <a:t>Yield, Lazy Execution, and Custom Traversal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EAA0E1C-4F23-B092-DCA7-7D6EC42B70ED}"/>
              </a:ext>
            </a:extLst>
          </p:cNvPr>
          <p:cNvSpPr txBox="1">
            <a:spLocks/>
          </p:cNvSpPr>
          <p:nvPr/>
        </p:nvSpPr>
        <p:spPr>
          <a:xfrm>
            <a:off x="1767840" y="5596128"/>
            <a:ext cx="8619744" cy="673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SIT232 – Task 1.3D – Madeleine Van Mello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43641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C99C-BC89-84E3-9653-EA96945E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84466"/>
          </a:xfrm>
        </p:spPr>
        <p:txBody>
          <a:bodyPr>
            <a:normAutofit fontScale="90000"/>
          </a:bodyPr>
          <a:lstStyle/>
          <a:p>
            <a:r>
              <a:rPr lang="en-AU" dirty="0"/>
              <a:t>What are Iterators?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F06AD-EA9D-8DF7-9FD2-BE846184D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255777"/>
            <a:ext cx="10107168" cy="50309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Iterators…</a:t>
            </a:r>
          </a:p>
          <a:p>
            <a:r>
              <a:rPr lang="en-US" dirty="0"/>
              <a:t>Are </a:t>
            </a:r>
          </a:p>
          <a:p>
            <a:pPr lvl="1"/>
            <a:r>
              <a:rPr lang="en-US" dirty="0"/>
              <a:t>a method, property, or accessor </a:t>
            </a:r>
          </a:p>
          <a:p>
            <a:pPr lvl="1"/>
            <a:r>
              <a:rPr lang="en-US" dirty="0"/>
              <a:t>that returns elements one at a time </a:t>
            </a:r>
          </a:p>
          <a:p>
            <a:pPr lvl="1"/>
            <a:r>
              <a:rPr lang="en-US" dirty="0"/>
              <a:t>using `yield return` and optionally `yield break`.  </a:t>
            </a:r>
          </a:p>
          <a:p>
            <a:r>
              <a:rPr lang="en-US" dirty="0"/>
              <a:t>Define how a sequence should be iterated</a:t>
            </a:r>
          </a:p>
          <a:p>
            <a:pPr marL="0" indent="0">
              <a:buNone/>
            </a:pPr>
            <a:r>
              <a:rPr lang="en-US" dirty="0"/>
              <a:t>[</a:t>
            </a:r>
            <a:r>
              <a:rPr lang="en-US" dirty="0" err="1"/>
              <a:t>GeeksForGeeks</a:t>
            </a:r>
            <a:r>
              <a:rPr lang="en-US" dirty="0"/>
              <a:t>] </a:t>
            </a:r>
            <a:r>
              <a:rPr lang="en-US" dirty="0">
                <a:hlinkClick r:id="rId3"/>
              </a:rPr>
              <a:t>https://www.geeksforgeeks.org/c-sharp/iterators-in-c-sharp/</a:t>
            </a:r>
            <a:endParaRPr lang="en-US" dirty="0"/>
          </a:p>
          <a:p>
            <a:r>
              <a:rPr lang="en-US" dirty="0"/>
              <a:t>Produce a sequence lazily (through deferred execution)</a:t>
            </a:r>
          </a:p>
          <a:p>
            <a:r>
              <a:rPr lang="en-US" dirty="0"/>
              <a:t>Work with `</a:t>
            </a:r>
            <a:r>
              <a:rPr lang="en-US" dirty="0" err="1"/>
              <a:t>foreach`and</a:t>
            </a:r>
            <a:r>
              <a:rPr lang="en-US" dirty="0"/>
              <a:t> LINQ </a:t>
            </a:r>
            <a:r>
              <a:rPr lang="en-AU" dirty="0"/>
              <a:t>(Language Integrated Query) </a:t>
            </a:r>
            <a:endParaRPr lang="en-US" dirty="0"/>
          </a:p>
          <a:p>
            <a:r>
              <a:rPr lang="en-US" dirty="0"/>
              <a:t>Return types `</a:t>
            </a:r>
            <a:r>
              <a:rPr lang="en-US" dirty="0" err="1"/>
              <a:t>IEnumerable</a:t>
            </a:r>
            <a:r>
              <a:rPr lang="en-US" dirty="0"/>
              <a:t>`, `</a:t>
            </a:r>
            <a:r>
              <a:rPr lang="en-US" dirty="0" err="1"/>
              <a:t>IEnumerable</a:t>
            </a:r>
            <a:r>
              <a:rPr lang="en-US" dirty="0"/>
              <a:t>&lt;T&gt;`, `</a:t>
            </a:r>
            <a:r>
              <a:rPr lang="en-US" dirty="0" err="1"/>
              <a:t>IEnumerator</a:t>
            </a:r>
            <a:r>
              <a:rPr lang="en-US" dirty="0"/>
              <a:t>`, `</a:t>
            </a:r>
            <a:r>
              <a:rPr lang="en-US" dirty="0" err="1"/>
              <a:t>IEnumerator</a:t>
            </a:r>
            <a:r>
              <a:rPr lang="en-US" dirty="0"/>
              <a:t>&lt;T&gt;`.  </a:t>
            </a:r>
          </a:p>
          <a:p>
            <a:pPr marL="0" indent="0">
              <a:buNone/>
            </a:pPr>
            <a:r>
              <a:rPr lang="en-US" dirty="0"/>
              <a:t>[Microsoft Learn] </a:t>
            </a:r>
            <a:r>
              <a:rPr lang="en-US" dirty="0">
                <a:hlinkClick r:id="rId4"/>
              </a:rPr>
              <a:t>https://learn.microsoft.com/en-us/dotnet/csharp/programming-guide/concepts/iterators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E90DF-93E1-1F71-025F-99AC4F42A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923C5-6BBB-486A-80CB-F977F752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0312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1909C-3F83-0AA1-A95F-D5B65408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5F02-B93D-477D-D220-C81AAEEF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84466"/>
          </a:xfrm>
        </p:spPr>
        <p:txBody>
          <a:bodyPr>
            <a:normAutofit fontScale="90000"/>
          </a:bodyPr>
          <a:lstStyle/>
          <a:p>
            <a:r>
              <a:rPr lang="en-AU" dirty="0"/>
              <a:t>Why use Iterators?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233F-71FE-72A1-2C96-84AFB026B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279302"/>
            <a:ext cx="10082784" cy="5007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Iterators allow…</a:t>
            </a:r>
          </a:p>
          <a:p>
            <a:r>
              <a:rPr lang="en-US" dirty="0"/>
              <a:t>Custom traversal logic  </a:t>
            </a:r>
          </a:p>
          <a:p>
            <a:r>
              <a:rPr lang="en-US" dirty="0"/>
              <a:t>Efficient streaming of data  </a:t>
            </a:r>
          </a:p>
          <a:p>
            <a:r>
              <a:rPr lang="en-US" dirty="0"/>
              <a:t>For cleaner code without manual `</a:t>
            </a:r>
            <a:r>
              <a:rPr lang="en-US" dirty="0" err="1"/>
              <a:t>IEnumerator</a:t>
            </a:r>
            <a:r>
              <a:rPr lang="en-US" dirty="0"/>
              <a:t>` implementation  </a:t>
            </a:r>
          </a:p>
          <a:p>
            <a:r>
              <a:rPr lang="en-US" dirty="0"/>
              <a:t>Avoiding building large lists in memory  </a:t>
            </a:r>
          </a:p>
          <a:p>
            <a:r>
              <a:rPr lang="en-US" dirty="0"/>
              <a:t>Creating pipelines or extend LINQ.  </a:t>
            </a:r>
          </a:p>
          <a:p>
            <a:pPr marL="0" indent="0">
              <a:buNone/>
            </a:pPr>
            <a:r>
              <a:rPr lang="en-US" dirty="0"/>
              <a:t>[Microsoft Learn] </a:t>
            </a:r>
            <a:r>
              <a:rPr lang="en-US" dirty="0">
                <a:hlinkClick r:id="rId3"/>
              </a:rPr>
              <a:t>https://learn.microsoft.com/is-is/dotnet/csharp/iterators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93F7E4-CA32-4004-3F52-6E6E9BBD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19FA0-B750-ED43-7625-3F2B9E4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772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5CC1-E258-39DE-B7B8-B5CCFBDE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00FA-FF14-F4CE-B5AD-B4ECFD7C1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84466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Iterators work internally?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9799-1E0B-9956-1F6E-3396D903A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279302"/>
            <a:ext cx="10082784" cy="5007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your code hits `yield return`…</a:t>
            </a:r>
          </a:p>
          <a:p>
            <a:r>
              <a:rPr lang="en-US" dirty="0"/>
              <a:t>Execution pauses </a:t>
            </a:r>
          </a:p>
          <a:p>
            <a:r>
              <a:rPr lang="en-US" dirty="0"/>
              <a:t>The current state of the method is saved</a:t>
            </a:r>
          </a:p>
          <a:p>
            <a:r>
              <a:rPr lang="en-US" dirty="0"/>
              <a:t>The value is returned to the caller</a:t>
            </a:r>
          </a:p>
          <a:p>
            <a:r>
              <a:rPr lang="en-US" dirty="0"/>
              <a:t>Execution resumes from the saved point when the caller requests the next item.  </a:t>
            </a:r>
          </a:p>
          <a:p>
            <a:pPr marL="0" indent="0">
              <a:buNone/>
            </a:pPr>
            <a:r>
              <a:rPr lang="en-US" dirty="0"/>
              <a:t>This is why iterators feel like “</a:t>
            </a:r>
            <a:r>
              <a:rPr lang="en-US" dirty="0" err="1"/>
              <a:t>pausable</a:t>
            </a:r>
            <a:r>
              <a:rPr lang="en-US" dirty="0"/>
              <a:t> methods.”</a:t>
            </a:r>
          </a:p>
          <a:p>
            <a:pPr marL="0" indent="0">
              <a:buNone/>
            </a:pPr>
            <a:r>
              <a:rPr lang="en-US" dirty="0"/>
              <a:t>[Microsoft Learn] </a:t>
            </a:r>
            <a:r>
              <a:rPr lang="en-US" dirty="0">
                <a:hlinkClick r:id="rId3"/>
              </a:rPr>
              <a:t>https://learn.microsoft.com/en-us/dotnet/csharp/programming-guide/concepts/iterators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BC80A-EA79-B345-26DF-752A62BF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147A5-0684-374D-A3BB-5F3FF735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3596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38D4-4666-3146-C2D8-90C8EA2A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9595-67C3-B84C-4C06-13E4EF42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84466"/>
          </a:xfrm>
        </p:spPr>
        <p:txBody>
          <a:bodyPr>
            <a:normAutofit fontScale="90000"/>
          </a:bodyPr>
          <a:lstStyle/>
          <a:p>
            <a:r>
              <a:rPr lang="en-AU" dirty="0"/>
              <a:t>Basic Iterator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8C368-9719-8A9E-C307-A7C19A8E2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279302"/>
            <a:ext cx="10082784" cy="50073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public static </a:t>
            </a:r>
            <a:r>
              <a:rPr lang="en-US" dirty="0" err="1"/>
              <a:t>IEnumerable</a:t>
            </a:r>
            <a:r>
              <a:rPr lang="en-US" dirty="0"/>
              <a:t>&lt;int&gt; </a:t>
            </a:r>
            <a:r>
              <a:rPr lang="en-US" dirty="0" err="1"/>
              <a:t>EvenSequence</a:t>
            </a:r>
            <a:r>
              <a:rPr lang="en-US" dirty="0"/>
              <a:t>(int first, int last)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for (int n = first; n &lt;= last; n++)</a:t>
            </a:r>
          </a:p>
          <a:p>
            <a:pPr marL="0" indent="0">
              <a:buNone/>
            </a:pPr>
            <a:r>
              <a:rPr lang="en-US" dirty="0"/>
              <a:t>        if (n % 2 == 0)</a:t>
            </a:r>
          </a:p>
          <a:p>
            <a:pPr marL="0" indent="0">
              <a:buNone/>
            </a:pPr>
            <a:r>
              <a:rPr lang="en-US" dirty="0"/>
              <a:t>            yield return n;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foreach (var n in </a:t>
            </a:r>
            <a:r>
              <a:rPr lang="en-US" dirty="0" err="1"/>
              <a:t>EvenSequence</a:t>
            </a:r>
            <a:r>
              <a:rPr lang="en-US" dirty="0"/>
              <a:t>(1, 10))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(n);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nn-NO" dirty="0"/>
              <a:t>[Microsoft Learn] </a:t>
            </a:r>
            <a:r>
              <a:rPr lang="nn-NO" dirty="0">
                <a:hlinkClick r:id="rId3"/>
              </a:rPr>
              <a:t>https://learn.microsoft.com/en-us/dotnet/csharp/programming-guide/concepts/iterators</a:t>
            </a:r>
            <a:r>
              <a:rPr lang="nn-NO" dirty="0"/>
              <a:t>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C4A25-FCBE-7458-2F85-4BF77F6A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7113A-2DE6-4BB8-E31B-1015A5F0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533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A270-BE9C-6C7A-4B01-59E33C27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75E2-14FC-6105-700F-C0E7279A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84466"/>
          </a:xfrm>
        </p:spPr>
        <p:txBody>
          <a:bodyPr>
            <a:normAutofit fontScale="90000"/>
          </a:bodyPr>
          <a:lstStyle/>
          <a:p>
            <a:r>
              <a:rPr lang="en-AU" dirty="0"/>
              <a:t>Custom Collection Iterator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93485-C9DE-86BF-AF7B-6F055C602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279302"/>
            <a:ext cx="10082784" cy="50073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DaysOfWeek</a:t>
            </a:r>
            <a:r>
              <a:rPr lang="en-US" dirty="0"/>
              <a:t> : </a:t>
            </a:r>
            <a:r>
              <a:rPr lang="en-US" dirty="0" err="1"/>
              <a:t>IEnumerable</a:t>
            </a:r>
            <a:r>
              <a:rPr lang="en-US" dirty="0"/>
              <a:t>&lt;string&gt;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private string[] days = { "Mon", "Tue", "Wed", "Thu", "Fri", "Sat", "Sun" };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IEnumerator</a:t>
            </a:r>
            <a:r>
              <a:rPr lang="en-US" dirty="0"/>
              <a:t>&lt;string&gt; </a:t>
            </a:r>
            <a:r>
              <a:rPr lang="en-US" dirty="0" err="1"/>
              <a:t>GetEnumerator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foreach (var day in days)</a:t>
            </a:r>
          </a:p>
          <a:p>
            <a:pPr marL="0" indent="0">
              <a:buNone/>
            </a:pPr>
            <a:r>
              <a:rPr lang="en-US" dirty="0"/>
              <a:t>            yield return day;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IEnumerator</a:t>
            </a:r>
            <a:r>
              <a:rPr lang="en-US" dirty="0"/>
              <a:t> </a:t>
            </a:r>
            <a:r>
              <a:rPr lang="en-US" dirty="0" err="1"/>
              <a:t>IEnumerable.GetEnumerator</a:t>
            </a:r>
            <a:r>
              <a:rPr lang="en-US" dirty="0"/>
              <a:t>() =&gt; </a:t>
            </a:r>
            <a:r>
              <a:rPr lang="en-US" dirty="0" err="1"/>
              <a:t>GetEnumerator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nn-NO" dirty="0"/>
              <a:t>[Microsoft Learn] </a:t>
            </a:r>
            <a:r>
              <a:rPr lang="nn-NO" dirty="0">
                <a:hlinkClick r:id="rId3"/>
              </a:rPr>
              <a:t>https://learn.microsoft.com/en-us/dotnet/csharp/programming-guide/concepts/iterators</a:t>
            </a:r>
            <a:r>
              <a:rPr lang="nn-NO" dirty="0"/>
              <a:t>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2C6ED-9188-F10E-9F5E-A79C878F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24DB5-5CEE-AB32-569E-925EAF76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45546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958C-1A84-58E7-9805-27B1E9B9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EBB1-76C4-8E2E-DBA9-BA93AA82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84466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they differ from Enumerators?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59EA-6DC3-3265-3880-D5D8941B0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279302"/>
            <a:ext cx="10082784" cy="50073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n-NO" dirty="0"/>
          </a:p>
          <a:p>
            <a:pPr marL="0" indent="0">
              <a:buNone/>
            </a:pPr>
            <a:endParaRPr lang="nn-NO" dirty="0"/>
          </a:p>
          <a:p>
            <a:pPr marL="0" indent="0">
              <a:buNone/>
            </a:pPr>
            <a:endParaRPr lang="nn-NO" dirty="0"/>
          </a:p>
          <a:p>
            <a:pPr marL="0" indent="0">
              <a:buNone/>
            </a:pPr>
            <a:r>
              <a:rPr lang="nn-NO" dirty="0"/>
              <a:t>[Microsoft Learn] </a:t>
            </a:r>
            <a:r>
              <a:rPr lang="nn-NO" dirty="0">
                <a:hlinkClick r:id="rId3"/>
              </a:rPr>
              <a:t>https://learn.microsoft.com/is-is/dotnet/csharp/iterators</a:t>
            </a:r>
            <a:r>
              <a:rPr lang="nn-NO" dirty="0"/>
              <a:t>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FC5464-DCF0-D296-9D19-301D887BE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83989"/>
              </p:ext>
            </p:extLst>
          </p:nvPr>
        </p:nvGraphicFramePr>
        <p:xfrm>
          <a:off x="1048512" y="1279302"/>
          <a:ext cx="100827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928">
                  <a:extLst>
                    <a:ext uri="{9D8B030D-6E8A-4147-A177-3AD203B41FA5}">
                      <a16:colId xmlns:a16="http://schemas.microsoft.com/office/drawing/2014/main" val="3249644263"/>
                    </a:ext>
                  </a:extLst>
                </a:gridCol>
                <a:gridCol w="3360928">
                  <a:extLst>
                    <a:ext uri="{9D8B030D-6E8A-4147-A177-3AD203B41FA5}">
                      <a16:colId xmlns:a16="http://schemas.microsoft.com/office/drawing/2014/main" val="484833154"/>
                    </a:ext>
                  </a:extLst>
                </a:gridCol>
                <a:gridCol w="3360928">
                  <a:extLst>
                    <a:ext uri="{9D8B030D-6E8A-4147-A177-3AD203B41FA5}">
                      <a16:colId xmlns:a16="http://schemas.microsoft.com/office/drawing/2014/main" val="1438799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65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Iterator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 using `yield`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`</a:t>
                      </a:r>
                      <a:r>
                        <a:rPr lang="en-US" dirty="0" err="1"/>
                        <a:t>GetNumbers</a:t>
                      </a:r>
                      <a:r>
                        <a:rPr lang="en-US" dirty="0"/>
                        <a:t>()`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27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Enumerator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 tracking iteration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`</a:t>
                      </a:r>
                      <a:r>
                        <a:rPr lang="en-US" dirty="0" err="1"/>
                        <a:t>IEnumerator</a:t>
                      </a:r>
                      <a:r>
                        <a:rPr lang="en-US" dirty="0"/>
                        <a:t>&lt;int&gt;`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27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foreach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Syntax consuming enumerators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`foreach(var x in ...)`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43612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16C96-5390-0FFC-6BEF-8A28EE68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02F00-F9A3-3441-C570-D8DCB587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240357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7B681-94BE-3112-E664-B2CDA6986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FAD2-520F-9282-DE1A-9317FC40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84466"/>
          </a:xfrm>
        </p:spPr>
        <p:txBody>
          <a:bodyPr>
            <a:normAutofit fontScale="90000"/>
          </a:bodyPr>
          <a:lstStyle/>
          <a:p>
            <a:r>
              <a:rPr lang="en-AU" dirty="0"/>
              <a:t>What are Asynchronous Iterators?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572D-D65C-3AEB-5C84-874AC1F0B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279302"/>
            <a:ext cx="10082784" cy="5007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Asynchronous Iterators…</a:t>
            </a:r>
            <a:endParaRPr lang="en-US" dirty="0"/>
          </a:p>
          <a:p>
            <a:r>
              <a:rPr lang="en-US" dirty="0"/>
              <a:t>Return type `</a:t>
            </a:r>
            <a:r>
              <a:rPr lang="en-US" dirty="0" err="1"/>
              <a:t>IAsyncEnumerable</a:t>
            </a:r>
            <a:r>
              <a:rPr lang="en-US" dirty="0"/>
              <a:t>&lt;T&gt;` </a:t>
            </a:r>
          </a:p>
          <a:p>
            <a:r>
              <a:rPr lang="en-US" dirty="0"/>
              <a:t>Use `</a:t>
            </a:r>
            <a:r>
              <a:rPr lang="en-US" dirty="0" err="1"/>
              <a:t>IAsyncEnumerable</a:t>
            </a:r>
            <a:r>
              <a:rPr lang="en-US" dirty="0"/>
              <a:t>&lt;T&gt;`  </a:t>
            </a:r>
          </a:p>
          <a:p>
            <a:r>
              <a:rPr lang="en-US" dirty="0"/>
              <a:t>Consume with `await foreach`  </a:t>
            </a:r>
          </a:p>
          <a:p>
            <a:r>
              <a:rPr lang="en-US" dirty="0"/>
              <a:t>Are great for streaming I/O</a:t>
            </a:r>
            <a:r>
              <a:rPr lang="nn-NO" dirty="0"/>
              <a:t>.</a:t>
            </a:r>
          </a:p>
          <a:p>
            <a:pPr marL="0" indent="0">
              <a:buNone/>
            </a:pPr>
            <a:r>
              <a:rPr lang="nn-NO" dirty="0"/>
              <a:t>[Microsoft Learn] </a:t>
            </a:r>
            <a:r>
              <a:rPr lang="nn-NO" dirty="0">
                <a:hlinkClick r:id="rId3"/>
              </a:rPr>
              <a:t>https://learn.microsoft.com/is-is/dotnet/csharp/iterators</a:t>
            </a:r>
            <a:r>
              <a:rPr lang="nn-NO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AD907-C5C8-3829-89F6-06844AEE1E7A}"/>
              </a:ext>
            </a:extLst>
          </p:cNvPr>
          <p:cNvSpPr txBox="1"/>
          <p:nvPr/>
        </p:nvSpPr>
        <p:spPr>
          <a:xfrm>
            <a:off x="1060704" y="4746536"/>
            <a:ext cx="9353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await foreach (var item in </a:t>
            </a:r>
            <a:r>
              <a:rPr lang="en-AU" dirty="0" err="1"/>
              <a:t>GetDataAsync</a:t>
            </a:r>
            <a:r>
              <a:rPr lang="en-AU" dirty="0"/>
              <a:t>())</a:t>
            </a:r>
          </a:p>
          <a:p>
            <a:r>
              <a:rPr lang="en-AU" dirty="0"/>
              <a:t>{</a:t>
            </a:r>
          </a:p>
          <a:p>
            <a:r>
              <a:rPr lang="en-AU" dirty="0"/>
              <a:t>    </a:t>
            </a:r>
            <a:r>
              <a:rPr lang="en-AU" dirty="0" err="1"/>
              <a:t>Console.WriteLine</a:t>
            </a:r>
            <a:r>
              <a:rPr lang="en-AU" dirty="0"/>
              <a:t>(item);</a:t>
            </a:r>
          </a:p>
          <a:p>
            <a:r>
              <a:rPr lang="en-AU" dirty="0"/>
              <a:t>}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FEAC4-BECD-D52F-1AB9-B7F4B5C2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8C65C-12C1-D427-FCBD-2705C64C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56850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0128-1089-E1B4-5B24-74D6B5D4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08CC-EBEA-F280-15B1-B6B0475C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1391602"/>
          </a:xfrm>
        </p:spPr>
        <p:txBody>
          <a:bodyPr>
            <a:normAutofit/>
          </a:bodyPr>
          <a:lstStyle/>
          <a:p>
            <a:r>
              <a:rPr lang="en-US" dirty="0"/>
              <a:t>Reaction Game Example </a:t>
            </a:r>
            <a:br>
              <a:rPr lang="en-US" dirty="0"/>
            </a:br>
            <a:r>
              <a:rPr lang="en-US" dirty="0"/>
              <a:t>(Iterator-based state machine)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1D26F-A3AF-B364-3450-5E8014060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962912"/>
            <a:ext cx="10082784" cy="432377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IEnumerable</a:t>
            </a:r>
            <a:r>
              <a:rPr lang="en-US" dirty="0"/>
              <a:t>&lt;string&gt; </a:t>
            </a:r>
            <a:r>
              <a:rPr lang="en-US" dirty="0" err="1"/>
              <a:t>ReactionGame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yield return “Please insert a coin!";</a:t>
            </a:r>
          </a:p>
          <a:p>
            <a:pPr marL="0" indent="0">
              <a:buNone/>
            </a:pPr>
            <a:r>
              <a:rPr lang="en-US" dirty="0"/>
              <a:t>    yield return “Please wait for start...";</a:t>
            </a:r>
          </a:p>
          <a:p>
            <a:pPr marL="0" indent="0">
              <a:buNone/>
            </a:pPr>
            <a:r>
              <a:rPr lang="en-US" dirty="0"/>
              <a:t>    var </a:t>
            </a:r>
            <a:r>
              <a:rPr lang="en-US" dirty="0" err="1"/>
              <a:t>startTime</a:t>
            </a:r>
            <a:r>
              <a:rPr lang="en-US" dirty="0"/>
              <a:t> = </a:t>
            </a:r>
            <a:r>
              <a:rPr lang="en-US" dirty="0" err="1"/>
              <a:t>DateTime.Now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yield return "GO!";</a:t>
            </a:r>
          </a:p>
          <a:p>
            <a:pPr marL="0" indent="0">
              <a:buNone/>
            </a:pPr>
            <a:r>
              <a:rPr lang="en-US" dirty="0"/>
              <a:t>    var reaction = </a:t>
            </a:r>
            <a:r>
              <a:rPr lang="en-US" dirty="0" err="1"/>
              <a:t>GetReactionTime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    if (reaction &lt; </a:t>
            </a:r>
            <a:r>
              <a:rPr lang="en-US" dirty="0" err="1"/>
              <a:t>TimeSpan.FromMilliseconds</a:t>
            </a:r>
            <a:r>
              <a:rPr lang="en-US" dirty="0"/>
              <a:t>(150))</a:t>
            </a:r>
          </a:p>
          <a:p>
            <a:pPr marL="0" indent="0">
              <a:buNone/>
            </a:pPr>
            <a:r>
              <a:rPr lang="en-US" dirty="0"/>
              <a:t>        yield return “Game over! You were too fast. Please insert a coin.";</a:t>
            </a:r>
          </a:p>
          <a:p>
            <a:pPr marL="0" indent="0">
              <a:buNone/>
            </a:pPr>
            <a:r>
              <a:rPr lang="en-US" dirty="0"/>
              <a:t>    else if (reaction &gt; </a:t>
            </a:r>
            <a:r>
              <a:rPr lang="en-US" dirty="0" err="1"/>
              <a:t>TimeSpan.FromMilliseconds</a:t>
            </a:r>
            <a:r>
              <a:rPr lang="en-US" dirty="0"/>
              <a:t>(800))</a:t>
            </a:r>
          </a:p>
          <a:p>
            <a:pPr marL="0" indent="0">
              <a:buNone/>
            </a:pPr>
            <a:r>
              <a:rPr lang="en-US" dirty="0"/>
              <a:t>        yield return " Game over! You were too slow . Please insert a coin.";</a:t>
            </a:r>
          </a:p>
          <a:p>
            <a:pPr marL="0" indent="0">
              <a:buNone/>
            </a:pPr>
            <a:r>
              <a:rPr lang="en-US" dirty="0"/>
              <a:t>    else</a:t>
            </a:r>
          </a:p>
          <a:p>
            <a:pPr marL="0" indent="0">
              <a:buNone/>
            </a:pPr>
            <a:r>
              <a:rPr lang="en-US" dirty="0"/>
              <a:t>        yield return $"Good reaction: {</a:t>
            </a:r>
            <a:r>
              <a:rPr lang="en-US" dirty="0" err="1"/>
              <a:t>reaction.TotalMilliseconds</a:t>
            </a:r>
            <a:r>
              <a:rPr lang="en-US" dirty="0"/>
              <a:t>}</a:t>
            </a:r>
            <a:r>
              <a:rPr lang="en-US" dirty="0" err="1"/>
              <a:t>ms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A7AA9-99DD-A5F1-95E0-6827A478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0F84C-7D13-4BFB-5D90-4FC1D091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908893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6B95A-7738-0C50-4220-32E29E65A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81B0C-4688-29ED-1124-763B4B9D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96658"/>
          </a:xfrm>
        </p:spPr>
        <p:txBody>
          <a:bodyPr>
            <a:normAutofit fontScale="90000"/>
          </a:bodyPr>
          <a:lstStyle/>
          <a:p>
            <a:r>
              <a:rPr lang="en-US" dirty="0"/>
              <a:t>When use Iterators?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C30C7-04E2-CE57-E0C7-C4234FAD1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962912"/>
            <a:ext cx="10082784" cy="4323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Iterators are used for… </a:t>
            </a:r>
          </a:p>
          <a:p>
            <a:r>
              <a:rPr lang="en-US" dirty="0"/>
              <a:t>Custom traversal  </a:t>
            </a:r>
          </a:p>
          <a:p>
            <a:r>
              <a:rPr lang="en-US" dirty="0"/>
              <a:t>Lazy evaluation  </a:t>
            </a:r>
          </a:p>
          <a:p>
            <a:r>
              <a:rPr lang="en-US" dirty="0"/>
              <a:t>Streaming large data  </a:t>
            </a:r>
          </a:p>
          <a:p>
            <a:r>
              <a:rPr lang="en-US" dirty="0"/>
              <a:t>Cleaner code than manual enumerators.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80863-E522-CBAD-BC9C-56E330CC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3477B-3E22-AB0C-AE8F-1A757F80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50010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A60BD-69B3-7DB6-FC41-E78B5930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28DB-DA34-DB5B-9B01-7AB97DE30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96658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1141E-63C2-891B-36B3-EA0303A81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962912"/>
            <a:ext cx="10082784" cy="4323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Iterators are…</a:t>
            </a:r>
          </a:p>
          <a:p>
            <a:r>
              <a:rPr lang="en-US" dirty="0"/>
              <a:t>Lazy, clean, efficient  </a:t>
            </a:r>
          </a:p>
          <a:p>
            <a:r>
              <a:rPr lang="en-US" dirty="0"/>
              <a:t>Powered by `yield return`  </a:t>
            </a:r>
          </a:p>
          <a:p>
            <a:r>
              <a:rPr lang="en-US" dirty="0"/>
              <a:t>Great for custom sequences. </a:t>
            </a:r>
          </a:p>
          <a:p>
            <a:pPr marL="0" indent="0">
              <a:buNone/>
            </a:pPr>
            <a:r>
              <a:rPr lang="en-US" dirty="0"/>
              <a:t>Async iterators extend the pattern.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B999E-683A-9535-926C-B0E1B543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6BB9D-85AF-2ECE-C571-D2713585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7607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D0D12-11F6-CF2C-087B-7876EAE9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500E-CD62-E1D2-8AD6-6D506953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571310"/>
            <a:ext cx="10293096" cy="696658"/>
          </a:xfrm>
        </p:spPr>
        <p:txBody>
          <a:bodyPr>
            <a:normAutofit fontScale="90000"/>
          </a:bodyPr>
          <a:lstStyle/>
          <a:p>
            <a:r>
              <a:rPr lang="en-US" dirty="0"/>
              <a:t>Outro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5CEBE-D1A9-F908-583C-1CBA02DE8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04" y="1962912"/>
            <a:ext cx="10082784" cy="4323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Thanks for watching!  </a:t>
            </a:r>
          </a:p>
          <a:p>
            <a:pPr marL="0" indent="0">
              <a:buNone/>
            </a:pPr>
            <a:r>
              <a:rPr lang="en-US" dirty="0"/>
              <a:t>Code samples are available.</a:t>
            </a:r>
          </a:p>
          <a:p>
            <a:pPr marL="0" indent="0">
              <a:buNone/>
            </a:pPr>
            <a:r>
              <a:rPr lang="en-US" dirty="0"/>
              <a:t>Please ask questions anytime.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A8A4B-24A9-5FB3-8966-92108B82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SIT232 - Madeleine Van Mello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84D56-583A-5938-C952-BA199DC6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391-16D3-4361-B6C3-5B85631C3D3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299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1392</Words>
  <Application>Microsoft Office PowerPoint</Application>
  <PresentationFormat>Widescreen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Understanding Iterators  in C#</vt:lpstr>
      <vt:lpstr>What are Iterators?</vt:lpstr>
      <vt:lpstr>Why use Iterators?</vt:lpstr>
      <vt:lpstr>How do Iterators work internally?</vt:lpstr>
      <vt:lpstr>Basic Iterator Example</vt:lpstr>
      <vt:lpstr>Custom Collection Iterator Example</vt:lpstr>
      <vt:lpstr>How do they differ from Enumerators?</vt:lpstr>
      <vt:lpstr>What are Asynchronous Iterators?</vt:lpstr>
      <vt:lpstr>Reaction Game Example  (Iterator-based state machine)</vt:lpstr>
      <vt:lpstr>When use Iterators?</vt:lpstr>
      <vt:lpstr>Summary</vt:lpstr>
      <vt:lpstr>Outro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Van Mello</dc:creator>
  <cp:lastModifiedBy>Madeleine Van Mello</cp:lastModifiedBy>
  <cp:revision>8</cp:revision>
  <dcterms:created xsi:type="dcterms:W3CDTF">2026-09-18T01:33:58Z</dcterms:created>
  <dcterms:modified xsi:type="dcterms:W3CDTF">2026-09-22T01:34:27Z</dcterms:modified>
</cp:coreProperties>
</file>